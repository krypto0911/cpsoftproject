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italic ns1:id="rIdFont20"/>
      <ns0:bold ns1:id="rIdFont21"/>
      <ns0:regular ns1:id="rIdFont22"/>
    </ns0:embeddedFont>
    <ns0:embeddedFont>
      <ns0:font typeface="Roboto Mono"/>
      <ns0:italic ns1:id="rIdFont23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87771619-e2df-4c57-9cfb-ccec05b851e0.fntdata" /><ns0:Relationship Id="rIdFont21" Type="http://schemas.openxmlformats.org/officeDocument/2006/relationships/font" Target="fonts/36a9fb07-2c1c-4950-ad73-8945e48c85e2.fntdata" /><ns0:Relationship Id="rIdFont22" Type="http://schemas.openxmlformats.org/officeDocument/2006/relationships/font" Target="fonts/60e5e280-0bf6-4776-855d-3c1e478bc7ef.fntdata" /><ns0:Relationship Id="rIdFont23" Type="http://schemas.openxmlformats.org/officeDocument/2006/relationships/font" Target="fonts/476071f0-5df2-4f43-8d5f-e2888995445e.fntdata" /><ns0:Relationship Id="rIdFont24" Type="http://schemas.openxmlformats.org/officeDocument/2006/relationships/font" Target="fonts/925cd59f-0858-47ab-bdf8-2e05f3683a29.fntdata" /><ns0:Relationship Id="rIdFont25" Type="http://schemas.openxmlformats.org/officeDocument/2006/relationships/font" Target="fonts/968a28f0-9b33-4f68-b05e-269ec6bd6cb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109936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Roboto Mono"/>
              </a:rPr>
              <a:t>DATASET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38561"/>
            <a:ext cx="5700712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Heart Failure Clinical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108102"/>
            <a:ext cx="48577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Predictive modeling and statistical analysis of patient mortality events.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52750"/>
            <a:ext cx="3352800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067050"/>
            <a:ext cx="3352800" cy="2228850"/>
          </a:xfrm>
          <a:prstGeom prst="roundRect">
            <a:avLst>
              <a:gd name="adj" fmla="val 68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2750"/>
            <a:ext cx="3352800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409950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5242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09950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Dataset Scope &amp;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4019550"/>
            <a:ext cx="3200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The Cohort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4495800"/>
            <a:ext cx="2533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299 patient clinical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4133850"/>
            <a:ext cx="3200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The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800" y="461010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96 recorded death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4019550"/>
            <a:ext cx="3200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The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0" y="4495800"/>
            <a:ext cx="2533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13 clinical and demographic variables.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105150"/>
            <a:ext cx="200025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733800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36245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991100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PROJECT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Core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3076575"/>
            <a:ext cx="99060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Identify Markers: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Find clinical types associated with mortality.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3705225"/>
            <a:ext cx="10453687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Evaluate Models: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Test machine learning classification algorithms.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1625" y="4333875"/>
            <a:ext cx="10322718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Statistical Rigor: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Analyze outcomes using foundational statistics.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4962525"/>
            <a:ext cx="10453687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Academic Insight: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Expand understanding of heart failure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2543175"/>
            <a:ext cx="5562600" cy="28956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15213" y="3876675"/>
            <a:ext cx="19050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PROBLEM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Target 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3175"/>
            <a:ext cx="4660582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Supervised Binary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09975"/>
            <a:ext cx="44386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The models predict a discrete categorical outcome based entirely on clinical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943475"/>
            <a:ext cx="44386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284C7"/>
                </a:solidFill>
                <a:latin typeface="Roboto Mono"/>
              </a:rPr>
              <a:t>Models: Logistic Regression,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4075" y="3152775"/>
            <a:ext cx="5429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E11D48"/>
                </a:solidFill>
                <a:latin typeface="Roboto Mono"/>
              </a:rPr>
              <a:t>DEATH_EVENT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1087" y="3686175"/>
            <a:ext cx="1714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E11D48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1087" y="4600575"/>
            <a:ext cx="1714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Mortality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7936" y="3686175"/>
            <a:ext cx="1774031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7936" y="4600575"/>
            <a:ext cx="17740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Inter"/>
              </a:rPr>
              <a:t>Patient Survival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57475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00475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943475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886075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029075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17207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ETHICAL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Usage 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14625"/>
            <a:ext cx="7338417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Demographic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14675"/>
            <a:ext cx="698896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Inter"/>
              </a:rPr>
              <a:t>Slight over-representation of older males (194 M / 105 F).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57625"/>
            <a:ext cx="808851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Patient 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57675"/>
            <a:ext cx="770334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Inter"/>
              </a:rPr>
              <a:t>Retrospective medical study published for academic purposes.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00625"/>
            <a:ext cx="657582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Strictly Non-Clinical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400675"/>
            <a:ext cx="62626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Inter"/>
              </a:rPr>
              <a:t>Autonomous clinical diagnosis is strictly prohibited.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2624137"/>
            <a:ext cx="762000" cy="381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76685" y="2967037"/>
            <a:ext cx="9038629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Inter"/>
              </a:rPr>
              <a:t>Data Preparation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8781" y="3929062"/>
            <a:ext cx="883443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E0F2FE"/>
                </a:solidFill>
                <a:latin typeface="Roboto Mono"/>
              </a:rPr>
              <a:t>Cleaning, Transformation, and Foundational Statistics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885950"/>
            <a:ext cx="5448300" cy="4362450"/>
          </a:xfrm>
          <a:prstGeom prst="roundRect">
            <a:avLst>
              <a:gd name="adj" fmla="val 262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PIPELINE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Data Ingestion &amp; Quality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190750"/>
            <a:ext cx="4933950" cy="3752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678DD"/>
                </a:solidFill>
                <a:latin typeface="Roboto Mono"/>
              </a:rPr>
              <a:t>import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1500" i="0" u="none">
                <a:solidFill>
                  <a:srgbClr val="E5C07B"/>
                </a:solidFill>
                <a:latin typeface="Roboto Mono"/>
              </a:rPr>
              <a:t>pandas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1500" i="0" u="none">
                <a:solidFill>
                  <a:srgbClr val="C678DD"/>
                </a:solidFill>
                <a:latin typeface="Roboto Mono"/>
              </a:rPr>
              <a:t>as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1500" i="0" u="none">
                <a:solidFill>
                  <a:srgbClr val="E5C07B"/>
                </a:solidFill>
                <a:latin typeface="Roboto Mono"/>
              </a:rPr>
              <a:t>pd</a:t>
            </a:r>
            <a:r>
              <a:t>
</a:t>
            </a:r>
            <a:r>
              <a:t>
</a:t>
            </a:r>
            <a:r>
              <a:rPr b="0" sz="1500" i="1" u="none">
                <a:solidFill>
                  <a:srgbClr val="F8FAFC"/>
                </a:solidFill>
                <a:latin typeface="Roboto Mono"/>
              </a:rPr>
              <a:t># Load the dataset</a:t>
            </a:r>
            <a:r>
              <a:t>
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df </a:t>
            </a:r>
            <a:r>
              <a:rPr b="0" sz="150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pd.read_csv(</a:t>
            </a:r>
            <a:r>
              <a:rPr b="0" sz="1500" i="0" u="none">
                <a:solidFill>
                  <a:srgbClr val="98C379"/>
                </a:solidFill>
                <a:latin typeface="Roboto Mono"/>
              </a:rPr>
              <a:t>"heart_failure.csv"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)</a:t>
            </a:r>
            <a:r>
              <a:t>
</a:t>
            </a:r>
            <a:r>
              <a:t>
</a:t>
            </a:r>
            <a:r>
              <a:rPr b="0" sz="1500" i="1" u="none">
                <a:solidFill>
                  <a:srgbClr val="F8FAFC"/>
                </a:solidFill>
                <a:latin typeface="Roboto Mono"/>
              </a:rPr>
              <a:t># Quality checks</a:t>
            </a:r>
            <a:r>
              <a:t>
</a:t>
            </a:r>
            <a:r>
              <a:rPr b="0" sz="1500" i="0" u="none">
                <a:solidFill>
                  <a:srgbClr val="61AFEF"/>
                </a:solidFill>
                <a:latin typeface="Roboto Mono"/>
              </a:rPr>
              <a:t>print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(df.shape)</a:t>
            </a:r>
            <a:r>
              <a:t>
</a:t>
            </a:r>
            <a:r>
              <a:rPr b="0" sz="1500" i="0" u="none">
                <a:solidFill>
                  <a:srgbClr val="61AFEF"/>
                </a:solidFill>
                <a:latin typeface="Roboto Mono"/>
              </a:rPr>
              <a:t>print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(df.isna().sum().sum())</a:t>
            </a:r>
            <a:r>
              <a:t>
</a:t>
            </a:r>
            <a:r>
              <a:rPr b="0" sz="1500" i="0" u="none">
                <a:solidFill>
                  <a:srgbClr val="61AFEF"/>
                </a:solidFill>
                <a:latin typeface="Roboto Mono"/>
              </a:rPr>
              <a:t>print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(df.duplicated().sum())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1300" y="2962275"/>
            <a:ext cx="56007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Roboto Mono"/>
              </a:rPr>
              <a:t>pd.read_csv()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343275"/>
            <a:ext cx="4933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Loads the CSV file into a Pandas DataFrame structure in memory for programmatic manipulation.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4105275"/>
            <a:ext cx="56007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Roboto Mono"/>
              </a:rPr>
              <a:t>.shape &amp; .isna()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4486275"/>
            <a:ext cx="49339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shape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validates dimensions (299 rows, 13 cols). 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isna()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and 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duplicated()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confirm the dataset is clean with 0 missing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1885950"/>
            <a:ext cx="5448300" cy="4362450"/>
          </a:xfrm>
          <a:prstGeom prst="roundRect">
            <a:avLst>
              <a:gd name="adj" fmla="val 262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PIPELINE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Feature &amp; Target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190750"/>
            <a:ext cx="4933950" cy="3752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E06C75"/>
                </a:solidFill>
                <a:latin typeface="Roboto Mono"/>
              </a:rPr>
              <a:t>target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150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1500" i="0" u="none">
                <a:solidFill>
                  <a:srgbClr val="98C379"/>
                </a:solidFill>
                <a:latin typeface="Roboto Mono"/>
              </a:rPr>
              <a:t>"DEATH_EVENT"</a:t>
            </a:r>
            <a:r>
              <a:t>
</a:t>
            </a:r>
            <a:r>
              <a:t>
</a:t>
            </a:r>
            <a:r>
              <a:rPr b="0" sz="1500" i="1" u="none">
                <a:solidFill>
                  <a:srgbClr val="F8FAFC"/>
                </a:solidFill>
                <a:latin typeface="Roboto Mono"/>
              </a:rPr>
              <a:t># Extract features (X) and label (y)</a:t>
            </a:r>
            <a:r>
              <a:t>
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X </a:t>
            </a:r>
            <a:r>
              <a:rPr b="0" sz="150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df.drop(columns</a:t>
            </a:r>
            <a:r>
              <a:rPr b="0" sz="150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[target])</a:t>
            </a:r>
            <a:r>
              <a:t>
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y </a:t>
            </a:r>
            <a:r>
              <a:rPr b="0" sz="150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df[target]</a:t>
            </a:r>
            <a:r>
              <a:t>
</a:t>
            </a:r>
            <a:r>
              <a:t>
</a:t>
            </a:r>
            <a:r>
              <a:rPr b="0" sz="1500" i="1" u="none">
                <a:solidFill>
                  <a:srgbClr val="F8FAFC"/>
                </a:solidFill>
                <a:latin typeface="Roboto Mono"/>
              </a:rPr>
              <a:t># Prevent data leakage</a:t>
            </a:r>
            <a:r>
              <a:t>
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X </a:t>
            </a:r>
            <a:r>
              <a:rPr b="0" sz="150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 X.drop(columns</a:t>
            </a:r>
            <a:r>
              <a:rPr b="0" sz="150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[</a:t>
            </a:r>
            <a:r>
              <a:rPr b="0" sz="1500" i="0" u="none">
                <a:solidFill>
                  <a:srgbClr val="98C379"/>
                </a:solidFill>
                <a:latin typeface="Roboto Mono"/>
              </a:rPr>
              <a:t>"time"</a:t>
            </a:r>
            <a:r>
              <a:rPr b="0" sz="1500" i="0" u="none">
                <a:solidFill>
                  <a:srgbClr val="F8FAFC"/>
                </a:solidFill>
                <a:latin typeface="Roboto Mono"/>
              </a:rPr>
              <a:t>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847975"/>
            <a:ext cx="635079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Roboto Mono"/>
              </a:rPr>
              <a:t>df.drop()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28975"/>
            <a:ext cx="49339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Removes the target variable from the input matrix to prevent the model from learning the answers during the training phase.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219575"/>
            <a:ext cx="635079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Roboto Mono"/>
              </a:rPr>
              <a:t>Data Leakage 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00575"/>
            <a:ext cx="49339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Dropping the 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time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(follow-up duration) column ensures the model predicts based strictly on initial clinical assessment, not future observation.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57575" y="1962150"/>
            <a:ext cx="5276850" cy="5334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24000" y="3381375"/>
            <a:ext cx="9144000" cy="4572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24000" y="5181600"/>
            <a:ext cx="9144000" cy="4572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24000" y="3381375"/>
            <a:ext cx="6208662" cy="457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4000" y="5181600"/>
            <a:ext cx="2935188" cy="4572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CLASS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Target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6175" y="2114550"/>
            <a:ext cx="4914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8FAFC"/>
                </a:solidFill>
                <a:latin typeface="Roboto Mono"/>
              </a:rPr>
              <a:t>df[</a:t>
            </a:r>
            <a:r>
              <a:rPr b="0" sz="1350" i="0" u="none">
                <a:solidFill>
                  <a:srgbClr val="98C379"/>
                </a:solidFill>
                <a:latin typeface="Roboto Mono"/>
              </a:rPr>
              <a:t>'DEATH_EVENT'</a:t>
            </a:r>
            <a:r>
              <a:rPr b="0" sz="1350" i="0" u="none">
                <a:solidFill>
                  <a:srgbClr val="F8FAFC"/>
                </a:solidFill>
                <a:latin typeface="Roboto Mono"/>
              </a:rPr>
              <a:t>].value_counts(normalize</a:t>
            </a:r>
            <a:r>
              <a:rPr b="0" sz="135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350" i="0" u="none">
                <a:solidFill>
                  <a:srgbClr val="D19A66"/>
                </a:solidFill>
                <a:latin typeface="Roboto Mono"/>
              </a:rPr>
              <a:t>True</a:t>
            </a:r>
            <a:r>
              <a:rPr b="0" sz="1350" i="0" u="none">
                <a:solidFill>
                  <a:srgbClr val="F8FAFC"/>
                </a:solidFill>
                <a:latin typeface="Roboto Mono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762000" y="3990975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64748B"/>
                </a:solidFill>
                <a:latin typeface="Inter"/>
              </a:rPr>
              <a:t>67.9% of Cohort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762000" y="5791200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64748B"/>
                </a:solidFill>
                <a:latin typeface="Inter"/>
              </a:rPr>
              <a:t>32.1% of Cohort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2876550"/>
            <a:ext cx="3059906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No Death Event (0)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2876550"/>
            <a:ext cx="2428875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Roboto Mono"/>
              </a:rPr>
              <a:t>203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4676775"/>
            <a:ext cx="2440781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Death Event 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6825" y="4676775"/>
            <a:ext cx="2226468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11D48"/>
                </a:solidFill>
                <a:latin typeface="Roboto Mono"/>
              </a:rPr>
              <a:t>96 Patients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06280" y="1885950"/>
            <a:ext cx="6423719" cy="4362450"/>
          </a:xfrm>
          <a:prstGeom prst="roundRect">
            <a:avLst>
              <a:gd name="adj" fmla="val 26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76537"/>
            <a:ext cx="3863280" cy="1228725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68255" y="5109269"/>
            <a:ext cx="523279" cy="453330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67735" y="4542532"/>
            <a:ext cx="523279" cy="1020067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7214" y="3749129"/>
            <a:ext cx="523279" cy="1813470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6694" y="3295650"/>
            <a:ext cx="523279" cy="2266950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66174" y="4089201"/>
            <a:ext cx="523279" cy="1473398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65653" y="3862387"/>
            <a:ext cx="523279" cy="1700212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65133" y="4655939"/>
            <a:ext cx="523279" cy="906660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64613" y="4995862"/>
            <a:ext cx="523279" cy="566737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64092" y="5335934"/>
            <a:ext cx="523279" cy="226665"/>
          </a:xfrm>
          <a:prstGeom prst="rect">
            <a:avLst/>
          </a:prstGeom>
          <a:solidFill>
            <a:srgbClr val="38BDF8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DATA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Distribution &amp; Outlier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005137"/>
            <a:ext cx="350133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E5C07B"/>
                </a:solidFill>
                <a:latin typeface="Roboto Mono"/>
              </a:rPr>
              <a:t>sns</a:t>
            </a:r>
            <a:r>
              <a:rPr b="0" sz="1350" i="0" u="none">
                <a:solidFill>
                  <a:srgbClr val="F8FAFC"/>
                </a:solidFill>
                <a:latin typeface="Roboto Mono"/>
              </a:rPr>
              <a:t>.histplot(data</a:t>
            </a:r>
            <a:r>
              <a:rPr b="0" sz="135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350" i="0" u="none">
                <a:solidFill>
                  <a:srgbClr val="F8FAFC"/>
                </a:solidFill>
                <a:latin typeface="Roboto Mono"/>
              </a:rPr>
              <a:t>df, x</a:t>
            </a:r>
            <a:r>
              <a:rPr b="0" sz="135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350" i="0" u="none">
                <a:solidFill>
                  <a:srgbClr val="98C379"/>
                </a:solidFill>
                <a:latin typeface="Roboto Mono"/>
              </a:rPr>
              <a:t>"age"</a:t>
            </a:r>
            <a:r>
              <a:rPr b="0" sz="1350" i="0" u="none">
                <a:solidFill>
                  <a:srgbClr val="F8FAFC"/>
                </a:solidFill>
                <a:latin typeface="Roboto Mono"/>
              </a:rPr>
              <a:t>, kde</a:t>
            </a:r>
            <a:r>
              <a:rPr b="0" sz="135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350" i="0" u="none">
                <a:solidFill>
                  <a:srgbClr val="D19A66"/>
                </a:solidFill>
                <a:latin typeface="Roboto Mono"/>
              </a:rPr>
              <a:t>True</a:t>
            </a:r>
            <a:r>
              <a:rPr b="0" sz="1350" i="0" u="none">
                <a:solidFill>
                  <a:srgbClr val="F8FAFC"/>
                </a:solidFill>
                <a:latin typeface="Roboto Mono"/>
              </a:rPr>
              <a:t>)</a:t>
            </a:r>
            <a:r>
              <a:t>
</a:t>
            </a:r>
            <a:r>
              <a:rPr b="0" sz="1350" i="0" u="none">
                <a:solidFill>
                  <a:srgbClr val="E5C07B"/>
                </a:solidFill>
                <a:latin typeface="Roboto Mono"/>
              </a:rPr>
              <a:t>plt</a:t>
            </a:r>
            <a:r>
              <a:rPr b="0" sz="1350" i="0" u="none">
                <a:solidFill>
                  <a:srgbClr val="F8FAFC"/>
                </a:solidFill>
                <a:latin typeface="Roboto Mono"/>
              </a:rPr>
              <a:t>.title(</a:t>
            </a:r>
            <a:r>
              <a:rPr b="0" sz="1350" i="0" u="none">
                <a:solidFill>
                  <a:srgbClr val="98C379"/>
                </a:solidFill>
                <a:latin typeface="Roboto Mono"/>
              </a:rPr>
              <a:t>"Age Distribution"</a:t>
            </a:r>
            <a:r>
              <a:rPr b="0" sz="1350" i="0" u="none">
                <a:solidFill>
                  <a:srgbClr val="F8FAFC"/>
                </a:solidFill>
                <a:latin typeface="Roboto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6221" y="2914650"/>
            <a:ext cx="724383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Age Distribution (Simulated Histplot)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233862"/>
            <a:ext cx="507055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oboto Mono"/>
              </a:rPr>
              <a:t>sns.histplot()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557712"/>
            <a:ext cx="395853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Visualizes the distribution spread via Seaborn. Identifies skewed variables and flags potential extreme observations mathematically using IQR bounds.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9205" y="5734050"/>
            <a:ext cx="47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Roboto Mono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8649" y="5734050"/>
            <a:ext cx="47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Roboto Mono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8093" y="5734050"/>
            <a:ext cx="47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Roboto Mono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7537" y="5734050"/>
            <a:ext cx="47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Roboto Mono"/>
              </a:rPr>
              <a:t>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6982" y="5734050"/>
            <a:ext cx="47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Roboto Mono"/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6426" y="5734050"/>
            <a:ext cx="47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Roboto Mono"/>
              </a:rPr>
              <a:t>90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48050" y="1657350"/>
            <a:ext cx="5219700" cy="428625"/>
          </a:xfrm>
          <a:prstGeom prst="roundRect">
            <a:avLst>
              <a:gd name="adj" fmla="val 17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INFERENTIAL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Mortality Group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757362"/>
            <a:ext cx="3071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Unadjusted Welch T-Tests: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6650" y="1771650"/>
            <a:ext cx="4857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5C07B"/>
                </a:solidFill>
                <a:latin typeface="Roboto Mono"/>
              </a:rPr>
              <a:t>stats</a:t>
            </a:r>
            <a:r>
              <a:rPr b="0" sz="1200" i="0" u="none">
                <a:solidFill>
                  <a:srgbClr val="F8FAFC"/>
                </a:solidFill>
                <a:latin typeface="Roboto Mono"/>
              </a:rPr>
              <a:t>.ttest_ind(group_0, group_1, equal_var</a:t>
            </a:r>
            <a:r>
              <a:rPr b="0" sz="1200" i="0" u="none">
                <a:solidFill>
                  <a:srgbClr val="56B6C2"/>
                </a:solidFill>
                <a:latin typeface="Roboto Mono"/>
              </a:rPr>
              <a:t>=</a:t>
            </a:r>
            <a:r>
              <a:rPr b="0" sz="1200" i="0" u="none">
                <a:solidFill>
                  <a:srgbClr val="D19A66"/>
                </a:solidFill>
                <a:latin typeface="Roboto Mono"/>
              </a:rPr>
              <a:t>False</a:t>
            </a:r>
            <a:r>
              <a:rPr b="0" sz="1200" i="0" u="none">
                <a:solidFill>
                  <a:srgbClr val="F8FAFC"/>
                </a:solidFill>
                <a:latin typeface="Roboto Mono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506" y="3700462"/>
            <a:ext cx="4444937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E11D48"/>
                </a:solidFill>
                <a:latin typeface="Roboto Mono"/>
              </a:rPr>
              <a:t>+6.5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382" y="4538662"/>
            <a:ext cx="466718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Years 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6" y="4891087"/>
            <a:ext cx="4444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Average age increase in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3456" y="3700462"/>
            <a:ext cx="4444937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E11D48"/>
                </a:solidFill>
                <a:latin typeface="Roboto Mono"/>
              </a:rPr>
              <a:t>+0.66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2333" y="4538662"/>
            <a:ext cx="466718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Serum Creatinine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3456" y="4891087"/>
            <a:ext cx="4444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Higher average in events.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406" y="3700462"/>
            <a:ext cx="4444937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284C7"/>
                </a:solidFill>
                <a:latin typeface="Roboto Mono"/>
              </a:rPr>
              <a:t>-6.8%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8283" y="4538662"/>
            <a:ext cx="466718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Ejection Fraction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406" y="4891087"/>
            <a:ext cx="4444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Lower average in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2676525"/>
            <a:ext cx="152400" cy="152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" y="3629025"/>
            <a:ext cx="152400" cy="152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4257675"/>
            <a:ext cx="152400" cy="1524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4886325"/>
            <a:ext cx="152400" cy="1524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5514975"/>
            <a:ext cx="152400" cy="152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Roboto Mono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42975"/>
            <a:ext cx="11430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2600325"/>
            <a:ext cx="9620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Class Imbalance: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32.1% baseline mortality rate requires metric adjustments.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3552825"/>
            <a:ext cx="9358312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Age Factor: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Age positively correlates with mortality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4181475"/>
            <a:ext cx="92392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Ejection Fraction: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Negatively correlates with death events.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810125"/>
            <a:ext cx="10013156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Serum Creatinine:</a:t>
            </a:r>
            <a:r>
              <a:rPr b="0" sz="2100" i="0" u="none">
                <a:solidFill>
                  <a:srgbClr val="1E293B"/>
                </a:solidFill>
                <a:latin typeface="Inter"/>
              </a:rPr>
              <a:t> Significantly elevated in the mortality group.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438775"/>
            <a:ext cx="9739312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100" i="1" u="none">
                <a:solidFill>
                  <a:srgbClr val="475569"/>
                </a:solidFill>
                <a:latin typeface="Inter"/>
              </a:rPr>
              <a:t>Note: Associations establish correlation, not causal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147887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300287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0621" y="3062287"/>
            <a:ext cx="6050756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Inter"/>
              </a:rPr>
              <a:t>End of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3953" y="4024312"/>
            <a:ext cx="608409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Heart Failure Clinical Records Dataset</a:t>
            </a:r>
            <a:r>
              <a:t>
</a:t>
            </a:r>
            <a:r>
              <a:rPr b="0" sz="1800" i="0" u="none">
                <a:solidFill>
                  <a:srgbClr val="94A3B8"/>
                </a:solidFill>
                <a:latin typeface="Inter"/>
              </a:rPr>
              <a:t> Predictive Modeling &amp; Foundational Statistics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